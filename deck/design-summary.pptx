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865 tuning knobs across 850 distinct names, counted from the source that registers each option rather than from a manual. A further 66 options are monitors and views, which do not change the answer and are left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186 of the 865 exist unconditionally. One preconditioner choice decides whether 392 of them exist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configuration in production today. 327 knobs are live in it, and the settings file we maintain describes 66 of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floor, not a size. A continuous knob is an interval rather than a list, and this treats every knob as independently settable, which the conditional structure says it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999713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Searching the settings of a slow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B9B7B0"/>
                </a:solidFill>
                <a:latin typeface="Calibri"/>
              </a:rPr>
              <a:t>A plan for automatic tuning, and where to take it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617720"/>
            <a:ext cx="1371600" cy="64008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B0B0B"/>
                </a:solidFill>
                <a:latin typeface="Calibri"/>
              </a:rPr>
              <a:t>What the code does, and what it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2865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2514E"/>
                </a:solidFill>
                <a:latin typeface="Calibri"/>
              </a:rPr>
              <a:t>A fusion reactor holds plasma at over a hundred million degrees. The exhaust leaving that plasma has to be cooled on its way out, or it destroys the metal wall it lands on. This code predicts whether a given reactor design manages that.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107286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98781"/>
                </a:solidFill>
                <a:latin typeface="Calibri"/>
              </a:rPr>
              <a:t>Simulating a tenth of a second of plasma, on ten cores: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46120"/>
            <a:ext cx="3423818" cy="2057400"/>
          </a:xfrm>
          <a:prstGeom prst="rect">
            <a:avLst/>
          </a:prstGeom>
          <a:solidFill>
            <a:srgbClr val="F3F2EE"/>
          </a:solidFill>
          <a:ln w="9525">
            <a:solidFill>
              <a:srgbClr val="F3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50976" y="3392424"/>
            <a:ext cx="298490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0B0B0B"/>
                </a:solidFill>
                <a:latin typeface="Calibri"/>
              </a:rPr>
              <a:t>~1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4270248"/>
            <a:ext cx="298490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B0B0B"/>
                </a:solidFill>
                <a:latin typeface="Calibri"/>
              </a:rPr>
              <a:t>a smaller production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4663440"/>
            <a:ext cx="29849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98781"/>
                </a:solidFill>
                <a:latin typeface="Calibri"/>
              </a:rPr>
              <a:t>the cheapest thing worth running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3938" y="3246120"/>
            <a:ext cx="3423818" cy="2057400"/>
          </a:xfrm>
          <a:prstGeom prst="rect">
            <a:avLst/>
          </a:prstGeom>
          <a:solidFill>
            <a:srgbClr val="F3F2EE"/>
          </a:solidFill>
          <a:ln w="9525">
            <a:solidFill>
              <a:srgbClr val="F3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03394" y="3392424"/>
            <a:ext cx="298490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2A78D6"/>
                </a:solidFill>
                <a:latin typeface="Calibri"/>
              </a:rPr>
              <a:t>10s of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3394" y="4270248"/>
            <a:ext cx="298490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B0B0B"/>
                </a:solidFill>
                <a:latin typeface="Calibri"/>
              </a:rPr>
              <a:t>a large case at full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3394" y="4663440"/>
            <a:ext cx="29849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98781"/>
                </a:solidFill>
                <a:latin typeface="Calibri"/>
              </a:rPr>
              <a:t>the ones the science needs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6356" y="3246120"/>
            <a:ext cx="3423818" cy="2057400"/>
          </a:xfrm>
          <a:prstGeom prst="rect">
            <a:avLst/>
          </a:prstGeom>
          <a:solidFill>
            <a:srgbClr val="F3F2EE"/>
          </a:solidFill>
          <a:ln w="9525">
            <a:solidFill>
              <a:srgbClr val="F3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55812" y="3392424"/>
            <a:ext cx="298490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0B0B0B"/>
                </a:solidFill>
                <a:latin typeface="Calibri"/>
              </a:rPr>
              <a:t>tens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812" y="4270248"/>
            <a:ext cx="298490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B0B0B"/>
                </a:solidFill>
                <a:latin typeface="Calibri"/>
              </a:rPr>
              <a:t>cases in a single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812" y="4663440"/>
            <a:ext cx="29849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98781"/>
                </a:solidFill>
                <a:latin typeface="Calibri"/>
              </a:rPr>
              <a:t>multiply by the row above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B0B0B"/>
                </a:solidFill>
                <a:latin typeface="Calibri"/>
              </a:rPr>
              <a:t>The speed of the code decides which questions can be asked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-knob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" y="274320"/>
            <a:ext cx="1104138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-con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38" y="274320"/>
            <a:ext cx="10037618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-live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21" y="274320"/>
            <a:ext cx="10778052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-space-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388" y="274320"/>
            <a:ext cx="9396919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B0B0B"/>
                </a:solidFill>
                <a:latin typeface="Calibri"/>
              </a:rPr>
              <a:t>Why this is not ordinary 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1234440" cy="457200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572768"/>
            <a:ext cx="92198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B0B0B"/>
                </a:solidFill>
                <a:latin typeface="Calibri"/>
              </a:rPr>
              <a:t>One evaluation is expensive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929384"/>
            <a:ext cx="921989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Calibri"/>
              </a:rPr>
              <a:t>so the number of trials will be small, and a method that needs thousands of them is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62072"/>
            <a:ext cx="1234440" cy="457200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noisy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834640"/>
            <a:ext cx="92198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B0B0B"/>
                </a:solidFill>
                <a:latin typeface="Calibri"/>
              </a:rPr>
              <a:t>The same settings run twice do not 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191256"/>
            <a:ext cx="921989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Calibri"/>
              </a:rPr>
              <a:t>the measurement has spread, so a difference of a few per cent means nothing.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23944"/>
            <a:ext cx="1234440" cy="457200"/>
          </a:xfrm>
          <a:prstGeom prst="rect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412394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4096511"/>
            <a:ext cx="92198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B0B0B"/>
                </a:solidFill>
                <a:latin typeface="Calibri"/>
              </a:rPr>
              <a:t>Fast can mean wrong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453128"/>
            <a:ext cx="921989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Calibri"/>
              </a:rPr>
              <a:t>a setting can be quick because it is cutting corners. Speed alone cannot be the score.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85816"/>
            <a:ext cx="1234440" cy="457200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5385816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failed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5358383"/>
            <a:ext cx="92198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B0B0B"/>
                </a:solidFill>
                <a:latin typeface="Calibri"/>
              </a:rPr>
              <a:t>A failure is a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715000"/>
            <a:ext cx="921989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Calibri"/>
              </a:rPr>
              <a:t>some settings make a run die or never finish. That is information, not a missing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B0B0B"/>
                </a:solidFill>
                <a:latin typeface="Calibri"/>
              </a:rPr>
              <a:t>Testing on a slice, not a whole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39" y="1627632"/>
            <a:ext cx="7482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98781"/>
                </a:solidFill>
                <a:latin typeface="Calibri"/>
              </a:rPr>
              <a:t>one long reference run, saving its state throughout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39" y="1975104"/>
            <a:ext cx="7482535" cy="475488"/>
          </a:xfrm>
          <a:prstGeom prst="rect">
            <a:avLst/>
          </a:prstGeom>
          <a:solidFill>
            <a:srgbClr val="F3F2EE"/>
          </a:solidFill>
          <a:ln w="9525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283592" y="1975104"/>
            <a:ext cx="274320" cy="475488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77304" y="1975104"/>
            <a:ext cx="274320" cy="475488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521366" y="1975104"/>
            <a:ext cx="274320" cy="475488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420752" y="2479852"/>
            <a:ext cx="14630" cy="2743200"/>
          </a:xfrm>
          <a:prstGeom prst="rect">
            <a:avLst/>
          </a:prstGeom>
          <a:solidFill>
            <a:srgbClr val="C7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14464" y="2479852"/>
            <a:ext cx="14630" cy="2743200"/>
          </a:xfrm>
          <a:prstGeom prst="rect">
            <a:avLst/>
          </a:prstGeom>
          <a:solidFill>
            <a:srgbClr val="C7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8526" y="2479852"/>
            <a:ext cx="14630" cy="2743200"/>
          </a:xfrm>
          <a:prstGeom prst="rect">
            <a:avLst/>
          </a:prstGeom>
          <a:solidFill>
            <a:srgbClr val="C7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0">
                <a:solidFill>
                  <a:srgbClr val="0B0B0B"/>
                </a:solidFill>
                <a:latin typeface="Calibri"/>
              </a:rPr>
              <a:t>screen many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3366820"/>
            <a:ext cx="7482535" cy="1463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83592" y="3246120"/>
            <a:ext cx="274320" cy="256032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977304" y="3246120"/>
            <a:ext cx="274320" cy="256032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521366" y="3246120"/>
            <a:ext cx="274320" cy="256032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8343" y="320040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98781"/>
                </a:solidFill>
                <a:latin typeface="Calibri"/>
              </a:rPr>
              <a:t>seconds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0">
                <a:solidFill>
                  <a:srgbClr val="0B0B0B"/>
                </a:solidFill>
                <a:latin typeface="Calibri"/>
              </a:rPr>
              <a:t>test survivors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39" y="4281220"/>
            <a:ext cx="7482535" cy="1463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83592" y="4160520"/>
            <a:ext cx="1051560" cy="256032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977304" y="4160520"/>
            <a:ext cx="1051560" cy="256032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521366" y="4160520"/>
            <a:ext cx="1051560" cy="256032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518343" y="411480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98781"/>
                </a:solidFill>
                <a:latin typeface="Calibri"/>
              </a:rPr>
              <a:t>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0">
                <a:solidFill>
                  <a:srgbClr val="0B0B0B"/>
                </a:solidFill>
                <a:latin typeface="Calibri"/>
              </a:rPr>
              <a:t>confirm finalists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39" y="5195620"/>
            <a:ext cx="7482535" cy="1463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34639" y="5074920"/>
            <a:ext cx="7482535" cy="256032"/>
          </a:xfrm>
          <a:prstGeom prst="rect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518343" y="502920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98781"/>
                </a:solidFill>
                <a:latin typeface="Calibri"/>
              </a:rPr>
              <a:t>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5216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2514E"/>
                </a:solidFill>
                <a:latin typeface="Calibri"/>
              </a:rPr>
              <a:t>A slice restarts from a saved state and runs a short way. Several positions, because the simulation is hard in different ways at different stages. Cheap slices screen many candidates; only the survivors pay for the longer 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B0B0B"/>
                </a:solidFill>
                <a:latin typeface="Calibri"/>
              </a:rPr>
              <a:t>The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5167" y="1828800"/>
            <a:ext cx="3017520" cy="132588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 w="9525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92327" y="201168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B0B0B"/>
                </a:solidFill>
                <a:latin typeface="Calibri"/>
              </a:rPr>
              <a:t>Optimiser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759" y="2432304"/>
            <a:ext cx="268833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52514E"/>
                </a:solidFill>
                <a:latin typeface="Calibri"/>
              </a:rPr>
              <a:t>decides what to try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0703" y="2553004"/>
            <a:ext cx="658368" cy="1463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0703" y="2048256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898781"/>
                </a:solidFill>
                <a:latin typeface="Calibri"/>
              </a:rPr>
              <a:t>a list of trials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7087" y="1828800"/>
            <a:ext cx="3017520" cy="132588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 w="9525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24247" y="201168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B0B0B"/>
                </a:solidFill>
                <a:latin typeface="Calibri"/>
              </a:rPr>
              <a:t>Runner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1679" y="2432304"/>
            <a:ext cx="268833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52514E"/>
                </a:solidFill>
                <a:latin typeface="Calibri"/>
              </a:rPr>
              <a:t>prepares, launches, watches, measures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32623" y="2553004"/>
            <a:ext cx="658368" cy="1463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32623" y="2048256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898781"/>
                </a:solidFill>
                <a:latin typeface="Calibri"/>
              </a:rPr>
              <a:t>what happened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19007" y="1828800"/>
            <a:ext cx="3017520" cy="132588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 w="9525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56167" y="201168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B0B0B"/>
                </a:solidFill>
                <a:latin typeface="Calibri"/>
              </a:rPr>
              <a:t>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3599" y="2432304"/>
            <a:ext cx="268833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52514E"/>
                </a:solidFill>
                <a:latin typeface="Calibri"/>
              </a:rPr>
              <a:t>one row per run, plus its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27767" y="3284524"/>
            <a:ext cx="14630" cy="50292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63927" y="3787444"/>
            <a:ext cx="7863840" cy="1463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63927" y="3284524"/>
            <a:ext cx="14630" cy="50292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63927" y="38404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98781"/>
                </a:solidFill>
                <a:latin typeface="Calibri"/>
              </a:rPr>
              <a:t>past results, as a short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72865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20000"/>
              </a:lnSpc>
              <a:spcAft>
                <a:spcPts val="900"/>
              </a:spcAft>
              <a:buChar char="•"/>
            </a:pPr>
            <a:r>
              <a:rPr sz="1350" b="0">
                <a:solidFill>
                  <a:srgbClr val="52514E"/>
                </a:solidFill>
                <a:latin typeface="Calibri"/>
              </a:rPr>
              <a:t>The runner has no judgement in it, so it runs unattended, anywhere.</a:t>
            </a:r>
          </a:p>
          <a:p>
            <a:pPr marL="171450" indent="-171450">
              <a:lnSpc>
                <a:spcPct val="120000"/>
              </a:lnSpc>
              <a:spcAft>
                <a:spcPts val="900"/>
              </a:spcAft>
              <a:buChar char="•"/>
            </a:pPr>
            <a:r>
              <a:rPr sz="1350" b="0">
                <a:solidFill>
                  <a:srgbClr val="52514E"/>
                </a:solidFill>
                <a:latin typeface="Calibri"/>
              </a:rPr>
              <a:t>The optimiser can be an algorithm, a language model, or a person writing a list. The runner cannot tell the difference, so it can be swapped without touching anything else.</a:t>
            </a:r>
          </a:p>
          <a:p>
            <a:pPr marL="171450" indent="-171450">
              <a:lnSpc>
                <a:spcPct val="120000"/>
              </a:lnSpc>
              <a:spcAft>
                <a:spcPts val="900"/>
              </a:spcAft>
              <a:buChar char="•"/>
            </a:pPr>
            <a:r>
              <a:rPr sz="1350" b="0">
                <a:solidFill>
                  <a:srgbClr val="52514E"/>
                </a:solidFill>
                <a:latin typeface="Calibri"/>
              </a:rPr>
              <a:t>Speed and correctness are recorded side by side, never combined, so nothing can trade accuracy for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B0B0B"/>
                </a:solidFill>
                <a:latin typeface="Calibri"/>
              </a:rPr>
              <a:t>What exists, and what does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50442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A78D6"/>
                </a:solidFill>
                <a:latin typeface="Calibri"/>
              </a:rPr>
              <a:t>Built and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5044287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20000"/>
              </a:lnSpc>
              <a:spcAft>
                <a:spcPts val="900"/>
              </a:spcAft>
              <a:buChar char="•"/>
            </a:pPr>
            <a:r>
              <a:rPr sz="1400" b="0">
                <a:solidFill>
                  <a:srgbClr val="52514E"/>
                </a:solidFill>
                <a:latin typeface="Calibri"/>
              </a:rPr>
              <a:t>Measurement. A finished run turns automatically into one row of numbers and a bundle of evidence.</a:t>
            </a:r>
          </a:p>
          <a:p>
            <a:pPr marL="171450" indent="-171450">
              <a:lnSpc>
                <a:spcPct val="120000"/>
              </a:lnSpc>
              <a:spcAft>
                <a:spcPts val="900"/>
              </a:spcAft>
              <a:buChar char="•"/>
            </a:pPr>
            <a:r>
              <a:rPr sz="1400" b="0">
                <a:solidFill>
                  <a:srgbClr val="52514E"/>
                </a:solidFill>
                <a:latin typeface="Calibri"/>
              </a:rPr>
              <a:t>The record. One row per run, added to and never rewritten.</a:t>
            </a:r>
          </a:p>
          <a:p>
            <a:pPr marL="171450" indent="-171450">
              <a:lnSpc>
                <a:spcPct val="120000"/>
              </a:lnSpc>
              <a:spcAft>
                <a:spcPts val="900"/>
              </a:spcAft>
              <a:buChar char="•"/>
            </a:pPr>
            <a:r>
              <a:rPr sz="1400" b="0">
                <a:solidFill>
                  <a:srgbClr val="52514E"/>
                </a:solidFill>
                <a:latin typeface="Calibri"/>
              </a:rPr>
              <a:t>Reference runs for three cases, with their saved states.</a:t>
            </a:r>
          </a:p>
          <a:p>
            <a:pPr marL="171450" indent="-171450">
              <a:lnSpc>
                <a:spcPct val="120000"/>
              </a:lnSpc>
              <a:spcAft>
                <a:spcPts val="900"/>
              </a:spcAft>
              <a:buChar char="•"/>
            </a:pPr>
            <a:r>
              <a:rPr sz="1400" b="0">
                <a:solidFill>
                  <a:srgbClr val="52514E"/>
                </a:solidFill>
                <a:latin typeface="Calibri"/>
              </a:rPr>
              <a:t>The tool that cuts a slice and sets it up as a run.</a:t>
            </a:r>
          </a:p>
          <a:p>
            <a:pPr marL="171450" indent="-171450">
              <a:lnSpc>
                <a:spcPct val="120000"/>
              </a:lnSpc>
              <a:spcAft>
                <a:spcPts val="900"/>
              </a:spcAft>
              <a:buChar char="•"/>
            </a:pPr>
            <a:r>
              <a:rPr sz="1400" b="0">
                <a:solidFill>
                  <a:srgbClr val="52514E"/>
                </a:solidFill>
                <a:latin typeface="Calibri"/>
              </a:rPr>
              <a:t>The loop itself. A four-trial campaign has been generated, run, measured and recorded with nobody watching.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5887" y="1508760"/>
            <a:ext cx="50442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B6834"/>
                </a:solidFill>
                <a:latin typeface="Calibri"/>
              </a:rPr>
              <a:t>Not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5887" y="2057400"/>
            <a:ext cx="5044287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20000"/>
              </a:lnSpc>
              <a:spcAft>
                <a:spcPts val="900"/>
              </a:spcAft>
              <a:buChar char="•"/>
            </a:pPr>
            <a:r>
              <a:rPr sz="1400" b="0">
                <a:solidFill>
                  <a:srgbClr val="52514E"/>
                </a:solidFill>
                <a:latin typeface="Calibri"/>
              </a:rPr>
              <a:t>Any optimiser at all. Every trial so far was a list written by hand.</a:t>
            </a:r>
          </a:p>
          <a:p>
            <a:pPr marL="171450" indent="-171450">
              <a:lnSpc>
                <a:spcPct val="120000"/>
              </a:lnSpc>
              <a:spcAft>
                <a:spcPts val="900"/>
              </a:spcAft>
              <a:buChar char="•"/>
            </a:pPr>
            <a:r>
              <a:rPr sz="1400" b="0">
                <a:solidFill>
                  <a:srgbClr val="52514E"/>
                </a:solidFill>
                <a:latin typeface="Calibri"/>
              </a:rPr>
              <a:t>Any evidence that a slice predicts a full run.</a:t>
            </a:r>
          </a:p>
          <a:p>
            <a:pPr marL="171450" indent="-171450">
              <a:lnSpc>
                <a:spcPct val="120000"/>
              </a:lnSpc>
              <a:spcAft>
                <a:spcPts val="900"/>
              </a:spcAft>
              <a:buChar char="•"/>
            </a:pPr>
            <a:r>
              <a:rPr sz="1400" b="0">
                <a:solidFill>
                  <a:srgbClr val="52514E"/>
                </a:solidFill>
                <a:latin typeface="Calibri"/>
              </a:rPr>
              <a:t>A description of more than a fifth of the settings that are 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72865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What to work on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214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A78D6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112264"/>
            <a:ext cx="101800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4E2DC"/>
                </a:solidFill>
                <a:latin typeface="Calibri"/>
              </a:rPr>
              <a:t>Does a slice predict a full run, and how should that be checked before it is trusted?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A78D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191256"/>
            <a:ext cx="101800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4E2DC"/>
                </a:solidFill>
                <a:latin typeface="Calibri"/>
              </a:rPr>
              <a:t>What search method suits 865 mixed settings, most of which exist only when another setting has a particular value?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793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A78D6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270248"/>
            <a:ext cx="101800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4E2DC"/>
                </a:solidFill>
                <a:latin typeface="Calibri"/>
              </a:rPr>
              <a:t>Where, if anywhere, does a language model belong in the loop?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58383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A78D6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349240"/>
            <a:ext cx="101800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4E2DC"/>
                </a:solidFill>
                <a:latin typeface="Calibri"/>
              </a:rPr>
              <a:t>How should a run that fails, or never finishes, be scored?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